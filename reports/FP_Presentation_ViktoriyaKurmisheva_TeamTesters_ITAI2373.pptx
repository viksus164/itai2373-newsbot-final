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5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final project as NewsBot 2.0, a larger version of the midterm NewsBot. Explain that Team Testers means Abraham and I peer-reviewed each other’s individual systems. We did not build one shared notebook; we tested each other’s work for clarity and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preview the presentation. The goal is to show both technical depth and business usefulness, not just screenshots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final project extends the midterm foundation. The purpose was not to make the most complicated system possible, but to build a working, understandable, end-to-end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project as a tool that helps people make sense of many articles. Mention that it supports human review rather than replacing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dataset meets the course requirements. Be clear that generated dates are only for analysis demonstrations, not real publication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left-to-right flow. The important point is that every module feeds the final NewsBot 2.0 integrated system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Logistic Regression was chosen not only for accuracy but because it supports probabilities and explanation-style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topic modeling adds unsupervised discovery while sentiment adds tone analysis. Mention generated dates again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connects NER to real news analysis. Entity relationships are exploratory, not proof of a real-world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no-paid-API design. The summarizer chooses important sentences from the article, which keeps it reproducible in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the scope: this is a project demonstration, not a production translation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interface lets a user ask things like 'summarize article 4' or 'show top entities.'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the live demo slide. Paste the Microsoft AI/cloud article into the dashboard and show category, sentiment, summary, entities, similar articles, and explanation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these numbers from the saved notebook output. The results show that the system is accurate, integrated, and fast enough for a Colab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the technical system to real-world use. Emphasize first-pass review and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that the project handles limitations honestly. It should strengthen the presentation because it avoids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this extension does not claim to solve bias detection, but it shows a transparent and evaluable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Clearly state the real collaboration model. This satisfies the contribution requirement without pretending the work was one shared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next steps as realistic improvements. Mention that the current version is strong for Colab and the course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the main message: this is a complete, practical NLP system that demonstrates both technical skills and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F4E79"/>
                </a:solidFill>
                <a:latin typeface="Aptos Display"/>
              </a:defRPr>
            </a:pPr>
            <a:r>
              <a:t>NewsBot Intelligence System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057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91919"/>
                </a:solidFill>
                <a:latin typeface="Aptos"/>
              </a:defRPr>
            </a:pPr>
            <a:r>
              <a:t>Advanced NLP Integration and News Analysis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292608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Final Project | ITAI 2373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3063240"/>
            <a:ext cx="2194560" cy="502920"/>
          </a:xfrm>
          <a:prstGeom prst="roundRect">
            <a:avLst/>
          </a:prstGeom>
          <a:solidFill>
            <a:srgbClr val="40919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Team Testers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63240"/>
            <a:ext cx="4434840" cy="502920"/>
          </a:xfrm>
          <a:prstGeom prst="roundRect">
            <a:avLst/>
          </a:prstGeom>
          <a:solidFill>
            <a:srgbClr val="4682B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Viktoriya Kurmisheva + Abraham Barreto peer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1028700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82296" cy="105156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087368"/>
            <a:ext cx="10012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ptos Display"/>
              </a:defRPr>
            </a:pPr>
            <a:r>
              <a:t>Presentation Focus</a:t>
            </a:r>
          </a:p>
          <a:p>
            <a:pPr>
              <a:spcBef>
                <a:spcPts val="400"/>
              </a:spcBef>
              <a:defRPr sz="1250">
                <a:solidFill>
                  <a:srgbClr val="191919"/>
                </a:solidFill>
                <a:latin typeface="Aptos"/>
              </a:defRPr>
            </a:pPr>
            <a:r>
              <a:t>System demo, technical architecture, business impact, evaluation, and peer-review contributions.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What this presentation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5C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887" y="2079498"/>
            <a:ext cx="10789920" cy="26990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Problem and project goals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Dataset and core requirements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System architecture and major modules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Live demo flow and web interface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Evaluation results and business value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Team Testers contributions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From a classifier notebook to a news intelligence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137219"/>
            <a:ext cx="10789920" cy="23183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Transform the midterm </a:t>
            </a:r>
            <a:r>
              <a:rPr dirty="0" err="1"/>
              <a:t>NewsBot</a:t>
            </a:r>
            <a:r>
              <a:rPr dirty="0"/>
              <a:t> into a more complete final NLP platform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Connect classification, topic modeling, sentiment, NER, summarization, search, multilingual support, and conversation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Keep the system practical for Google Colab and free tools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Create a portfolio-ready project that a professor or employer can run and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Problem and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Why this system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887" y="1999107"/>
            <a:ext cx="10789920" cy="2594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News content moves faster than people can manually review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Users need quick signals: topic, sentiment, people, organizations, summary, and related articles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Potential users: students, communications teams, business analysts, media monitoring teams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 err="1"/>
              <a:t>NewsBot</a:t>
            </a:r>
            <a:r>
              <a:rPr dirty="0"/>
              <a:t> supports first-pass review, not final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Dataset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Clean input data for the full NLP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8660" y="1907857"/>
            <a:ext cx="10789920" cy="30422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Dataset: BBC News Classification training data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Final notebook loads 1,490 English articles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Five categories: business, entertainment, politics, sport, and tech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Validation checks confirm article count, category count, substantial text, and no missing content/category labels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Generated analysis months support trend demos because the dataset has no verified publication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6D1E976F-C544-90DE-BFCA-571D0DADBBB5}"/>
              </a:ext>
            </a:extLst>
          </p:cNvPr>
          <p:cNvSpPr/>
          <p:nvPr/>
        </p:nvSpPr>
        <p:spPr>
          <a:xfrm>
            <a:off x="685609" y="3337560"/>
            <a:ext cx="8357997" cy="208483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One connected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00200" cy="640080"/>
          </a:xfrm>
          <a:prstGeom prst="roundRect">
            <a:avLst/>
          </a:prstGeom>
          <a:solidFill>
            <a:srgbClr val="4682B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12848" y="2267712"/>
            <a:ext cx="502920" cy="41148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0" y="2148840"/>
            <a:ext cx="1600200" cy="640080"/>
          </a:xfrm>
          <a:prstGeom prst="roundRect">
            <a:avLst/>
          </a:prstGeom>
          <a:solidFill>
            <a:srgbClr val="40919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61688" y="2267712"/>
            <a:ext cx="502920" cy="41148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92040" y="2148840"/>
            <a:ext cx="1600200" cy="640080"/>
          </a:xfrm>
          <a:prstGeom prst="roundRect">
            <a:avLst/>
          </a:prstGeom>
          <a:solidFill>
            <a:srgbClr val="5C9E6E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10527" y="2267712"/>
            <a:ext cx="502920" cy="41148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0880" y="2148840"/>
            <a:ext cx="1600200" cy="640080"/>
          </a:xfrm>
          <a:prstGeom prst="roundRect">
            <a:avLst/>
          </a:prstGeom>
          <a:solidFill>
            <a:srgbClr val="EB933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Enhance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59368" y="2267712"/>
            <a:ext cx="502920" cy="41148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89720" y="2148840"/>
            <a:ext cx="160020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Interact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675888"/>
            <a:ext cx="10332720" cy="150876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7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rPr dirty="0"/>
              <a:t>Dataset loader validates the BBC articles</a:t>
            </a:r>
          </a:p>
          <a:p>
            <a:pPr>
              <a:spcAft>
                <a:spcPts val="7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rPr dirty="0"/>
              <a:t>Preprocessor creates clean text for modeling</a:t>
            </a:r>
          </a:p>
          <a:p>
            <a:pPr>
              <a:spcAft>
                <a:spcPts val="7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rPr dirty="0"/>
              <a:t>Analysis modules classify, score sentiment, model topics, and extract entities</a:t>
            </a:r>
          </a:p>
          <a:p>
            <a:pPr>
              <a:spcAft>
                <a:spcPts val="7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rPr dirty="0"/>
              <a:t>Enhancement modules summarize, search, explain, and prepare insights</a:t>
            </a:r>
          </a:p>
          <a:p>
            <a:pPr>
              <a:spcAft>
                <a:spcPts val="7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rPr dirty="0" err="1"/>
              <a:t>Gradio</a:t>
            </a:r>
            <a:r>
              <a:rPr dirty="0"/>
              <a:t> and conversation layers turn the system into a user-facing 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ED9B50-8DE3-D4D8-E075-355FAE6942C0}"/>
              </a:ext>
            </a:extLst>
          </p:cNvPr>
          <p:cNvSpPr/>
          <p:nvPr/>
        </p:nvSpPr>
        <p:spPr>
          <a:xfrm>
            <a:off x="566928" y="3337560"/>
            <a:ext cx="118681" cy="2084832"/>
          </a:xfrm>
          <a:prstGeom prst="rect">
            <a:avLst/>
          </a:prstGeom>
          <a:solidFill>
            <a:srgbClr val="4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Advanced Content Analysis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Classification with evaluation and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152078"/>
            <a:ext cx="10789920" cy="2299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Enhanced classifier combines TF-IDF, sentiment, and length features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Compared </a:t>
            </a:r>
            <a:r>
              <a:rPr dirty="0" err="1"/>
              <a:t>ComplementNB</a:t>
            </a:r>
            <a:r>
              <a:rPr dirty="0"/>
              <a:t>, Logistic Regression, and Linear SVM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Production model: Logistic Regression for probabilities and explanations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Confidence labels help users understand prediction strength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Feature contribution output makes predictions easier to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Topic Modeling and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Finding patterns beyond category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133028"/>
            <a:ext cx="10789920" cy="2299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NMF and LDA discover hidden themes in article content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Topic words help describe the main themes without reading every article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Dominant topic assignment supports article clustering and exploration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VADER sentiment labels articles as positive, neutral, or negative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Sentiment trends are grouped by generated analysis month and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Named Entity and Relationship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Who and what appears in the news?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022919"/>
            <a:ext cx="10789920" cy="25469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 err="1"/>
              <a:t>spaCy</a:t>
            </a:r>
            <a:r>
              <a:rPr dirty="0"/>
              <a:t> extracts people, organizations, locations, dates, money amounts, products, and events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Entity counts show which names appear most often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Co-occurrence pairs show which entities appear together in articles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 err="1"/>
              <a:t>NetworkX</a:t>
            </a:r>
            <a:r>
              <a:rPr dirty="0"/>
              <a:t> graph gives a visual relationship map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Useful for media monitoring and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Language Understanding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Summarization, search, and insight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5C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1228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Extractive summarizer creates concise article summaries without paid APIs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Keyword extraction gives quick article signals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Semantic search finds similar articles using TF-IDF cosine similarity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Content enhancer combines category, sentiment, topic, entities, keywords, and insights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System produces readable outputs for non-technical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Multilingual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Cross-language analysis without paid translation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Language detection identifies article language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Manual/offline fallback translation demonstrates a cross-language workflow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Examples compare English, Spanish, and French article inputs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The main classifier still uses English text for analysis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Transparent note explains when fallback translation 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Conversational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Natural language access to the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8660" y="2041969"/>
            <a:ext cx="10789920" cy="25088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Rule-based intent detection handles common user requests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Supported requests include help, summarize, search, topics, entities, sentiment, and category counts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Conversation history stores user query and detected intent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Designed for clear interaction rather than complex chatbot behavior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Shows how NLP components can become an interactive exploration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33AC47A1-24D8-2D61-CCD5-CA8A5B262AE4}"/>
              </a:ext>
            </a:extLst>
          </p:cNvPr>
          <p:cNvSpPr/>
          <p:nvPr/>
        </p:nvSpPr>
        <p:spPr>
          <a:xfrm>
            <a:off x="566928" y="2706624"/>
            <a:ext cx="11018520" cy="2807208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Web Application Frontend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Colab-friendly Gradio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82296" cy="1005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35607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ptos Display"/>
              </a:defRPr>
            </a:pPr>
            <a:r>
              <a:t>Input</a:t>
            </a:r>
          </a:p>
          <a:p>
            <a:pPr>
              <a:spcBef>
                <a:spcPts val="400"/>
              </a:spcBef>
              <a:defRPr sz="1250">
                <a:solidFill>
                  <a:srgbClr val="191919"/>
                </a:solidFill>
                <a:latin typeface="Aptos"/>
              </a:defRPr>
            </a:pPr>
            <a:r>
              <a:t>Headline + full article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56616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82296" cy="1005840"/>
          </a:xfrm>
          <a:prstGeom prst="rect">
            <a:avLst/>
          </a:prstGeom>
          <a:solidFill>
            <a:srgbClr val="4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35607"/>
            <a:ext cx="329184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ptos Display"/>
              </a:defRPr>
            </a:pPr>
            <a:r>
              <a:rPr dirty="0"/>
              <a:t>Processing</a:t>
            </a:r>
          </a:p>
          <a:p>
            <a:pPr>
              <a:spcBef>
                <a:spcPts val="400"/>
              </a:spcBef>
              <a:defRPr sz="1250">
                <a:solidFill>
                  <a:srgbClr val="191919"/>
                </a:solidFill>
                <a:latin typeface="Aptos"/>
              </a:defRPr>
            </a:pPr>
            <a:r>
              <a:rPr dirty="0"/>
              <a:t>NewsBot2IntegratedSystem runs the full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2461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82296" cy="1005840"/>
          </a:xfrm>
          <a:prstGeom prst="rect">
            <a:avLst/>
          </a:prstGeom>
          <a:solidFill>
            <a:srgbClr val="5C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35607"/>
            <a:ext cx="29718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4E79"/>
                </a:solidFill>
                <a:latin typeface="Aptos Display"/>
              </a:defRPr>
            </a:pPr>
            <a:r>
              <a:rPr dirty="0"/>
              <a:t>Output</a:t>
            </a:r>
          </a:p>
          <a:p>
            <a:pPr>
              <a:spcBef>
                <a:spcPts val="400"/>
              </a:spcBef>
              <a:defRPr sz="1250">
                <a:solidFill>
                  <a:srgbClr val="191919"/>
                </a:solidFill>
                <a:latin typeface="Aptos"/>
              </a:defRPr>
            </a:pPr>
            <a:r>
              <a:rPr dirty="0"/>
              <a:t>Category, sentiment, summary, entities, similar articles,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92958"/>
            <a:ext cx="10332720" cy="19888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Demo article: Microsoft expands AI cloud services for business customers</a:t>
            </a:r>
          </a:p>
          <a:p>
            <a:pPr>
              <a:spcAft>
                <a:spcPts val="7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Expected output: tech/business category, positive or neutral sentiment, entities like Microsoft and Satya Nadella</a:t>
            </a:r>
          </a:p>
          <a:p>
            <a:pPr>
              <a:spcAft>
                <a:spcPts val="7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The </a:t>
            </a:r>
            <a:r>
              <a:rPr dirty="0" err="1"/>
              <a:t>Gradio</a:t>
            </a:r>
            <a:r>
              <a:rPr dirty="0"/>
              <a:t> share link is temporary, but the notebook can recreate it anytime</a:t>
            </a:r>
          </a:p>
          <a:p>
            <a:pPr>
              <a:spcAft>
                <a:spcPts val="7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No paid API keys, </a:t>
            </a:r>
            <a:r>
              <a:rPr dirty="0" err="1"/>
              <a:t>ngrok</a:t>
            </a:r>
            <a:r>
              <a:rPr dirty="0"/>
              <a:t> setup, or subscription services are required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D139E4-D0E0-A62C-9108-A2593BC3A559}"/>
              </a:ext>
            </a:extLst>
          </p:cNvPr>
          <p:cNvSpPr/>
          <p:nvPr/>
        </p:nvSpPr>
        <p:spPr>
          <a:xfrm>
            <a:off x="566928" y="2706624"/>
            <a:ext cx="118872" cy="28072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B7CF7D1C-C20A-4E75-5AEB-85E5BAAB149F}"/>
              </a:ext>
            </a:extLst>
          </p:cNvPr>
          <p:cNvSpPr/>
          <p:nvPr/>
        </p:nvSpPr>
        <p:spPr>
          <a:xfrm>
            <a:off x="640080" y="3789807"/>
            <a:ext cx="8605647" cy="187528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How the final system performed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874519" cy="777240"/>
          </a:xfrm>
          <a:prstGeom prst="roundRect">
            <a:avLst/>
          </a:prstGeom>
          <a:solidFill>
            <a:srgbClr val="5C9E6E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97.99%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Aptos"/>
              </a:defRPr>
            </a:pPr>
            <a:r>
              <a:t>Classification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508760"/>
            <a:ext cx="1874519" cy="777240"/>
          </a:xfrm>
          <a:prstGeom prst="roundRect">
            <a:avLst/>
          </a:prstGeom>
          <a:solidFill>
            <a:srgbClr val="4682B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97.91%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37744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Aptos"/>
              </a:defRPr>
            </a:pPr>
            <a:r>
              <a:t>Macro F1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8656" y="1508760"/>
            <a:ext cx="1874519" cy="777240"/>
          </a:xfrm>
          <a:prstGeom prst="roundRect">
            <a:avLst/>
          </a:prstGeom>
          <a:solidFill>
            <a:srgbClr val="40919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1,490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237744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Aptos"/>
              </a:defRPr>
            </a:pPr>
            <a:r>
              <a:t>Articles assigned to 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1508760"/>
            <a:ext cx="1874519" cy="777240"/>
          </a:xfrm>
          <a:prstGeom prst="roundRect">
            <a:avLst/>
          </a:prstGeom>
          <a:solidFill>
            <a:srgbClr val="EB933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237744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Aptos"/>
              </a:defRPr>
            </a:pPr>
            <a:r>
              <a:t>Integration test pass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7232" y="1508760"/>
            <a:ext cx="1874519" cy="777240"/>
          </a:xfrm>
          <a:prstGeom prst="roundRect">
            <a:avLst/>
          </a:prstGeom>
          <a:solidFill>
            <a:srgbClr val="1F4E7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0.08s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237744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latin typeface="Aptos"/>
              </a:defRPr>
            </a:pPr>
            <a:r>
              <a:t>Average runtime per sample 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" y="3995928"/>
            <a:ext cx="10058400" cy="1463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7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rPr dirty="0"/>
              <a:t>Strong classifier performance on the BBC test split</a:t>
            </a:r>
          </a:p>
          <a:p>
            <a:pPr>
              <a:spcAft>
                <a:spcPts val="7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rPr dirty="0"/>
              <a:t>Topic model assigns every article to a discovered topic</a:t>
            </a:r>
          </a:p>
          <a:p>
            <a:pPr>
              <a:spcAft>
                <a:spcPts val="7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rPr dirty="0"/>
              <a:t>Integration checks show the system components can run together</a:t>
            </a:r>
          </a:p>
          <a:p>
            <a:pPr>
              <a:spcAft>
                <a:spcPts val="7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rPr dirty="0"/>
              <a:t>Runtime stays practical for a classroom and portfolio demo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43B6E-77F4-B30A-1B58-70C5CDDEC0F5}"/>
              </a:ext>
            </a:extLst>
          </p:cNvPr>
          <p:cNvSpPr/>
          <p:nvPr/>
        </p:nvSpPr>
        <p:spPr>
          <a:xfrm>
            <a:off x="640080" y="3789807"/>
            <a:ext cx="92841" cy="187528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Practical value beyond the notebook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Media monitoring: classify and summarize high-volume articles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Communications teams: track brands, organizations, public figures, and tone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Business research: find related articles and repeated entity patterns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Executive briefings: turn long articles into short, readable summaries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Portfolio value: demonstrates a full NLP product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Ethics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Responsible use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1228" y="2226945"/>
            <a:ext cx="10789920" cy="24041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 err="1"/>
              <a:t>NewsBot</a:t>
            </a:r>
            <a:r>
              <a:rPr dirty="0"/>
              <a:t> supports human review; it should not replace careful reading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Classifier labels depend on the BBC training categories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Sentiment tools can miss sarcasm, context, and sensitive framing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Generated dates are for trend demonstration only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Bias/framing analyzer flags word patterns but cannot prove author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Advanced Research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Extra research-style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Transparent bias/framing analyzer uses loaded, uncertainty, and authority term lists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Demo compares balanced, loaded, and uncertain wording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Classifier explanation shows features that influenced a prediction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Goal: make automated news analysis more interpretable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Future work could evaluate the analyzer on a labeled bias/framing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Team Testers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Individual builds with peer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5C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65782"/>
            <a:ext cx="10789920" cy="24612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I built and documented my individual </a:t>
            </a:r>
            <a:r>
              <a:rPr dirty="0" err="1"/>
              <a:t>NewsBot</a:t>
            </a:r>
            <a:r>
              <a:rPr dirty="0"/>
              <a:t> 2.0 system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Abraham Barreto reviewed and tested my notebook and dashboard from a user perspective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I reviewed and tested Abraham’s system for flow, clarity, and usability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We did not merge code or create one shared notebook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Peer testing improved explanations, confidence wording, and demo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How the project could grow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EB9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Add current news feeds and real publication dates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Save trained models for faster startup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Move notebook classes into reusable Python modules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Expand multilingual support with open-source translation options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Improve summaries and semantic search with transformer models if runtime allows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11018520" cy="443484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118872" cy="44348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199132"/>
            <a:ext cx="10789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 err="1"/>
              <a:t>NewsBot</a:t>
            </a:r>
            <a:r>
              <a:rPr dirty="0"/>
              <a:t> 2.0 turns raw news text into organized, explainable insight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The system integrates advanced NLP modules into one working pipeline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The dashboard makes the project easier for non-technical users to test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Evaluation results show strong performance and practical runtime</a:t>
            </a:r>
          </a:p>
          <a:p>
            <a:pPr>
              <a:spcAft>
                <a:spcPts val="700"/>
              </a:spcAft>
              <a:defRPr sz="2200">
                <a:solidFill>
                  <a:srgbClr val="191919"/>
                </a:solidFill>
                <a:latin typeface="Aptos"/>
              </a:defRPr>
            </a:pPr>
            <a:r>
              <a:rPr dirty="0"/>
              <a:t>Team Testers peer review helped improve clarity and usability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84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87878"/>
                </a:solidFill>
                <a:latin typeface="Aptos"/>
              </a:defRPr>
            </a:pPr>
            <a:r>
              <a:t>NewsBot 2.0 Final Project | Team Testers | Slide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1837</Words>
  <Application>Microsoft Office PowerPoint</Application>
  <PresentationFormat>Widescreen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viktoriya.kurmisheva-W216330553</cp:lastModifiedBy>
  <cp:revision>2</cp:revision>
  <dcterms:created xsi:type="dcterms:W3CDTF">2013-01-27T09:14:16Z</dcterms:created>
  <dcterms:modified xsi:type="dcterms:W3CDTF">2026-07-14T17:05:33Z</dcterms:modified>
  <cp:category/>
</cp:coreProperties>
</file>